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Good evening all .Today we are here to present our newly product </a:t>
            </a:r>
            <a:r>
              <a:rPr lang="en-US" altLang="en-US" dirty="0">
                <a:sym typeface="+mn-ea"/>
              </a:rPr>
              <a:t>DiyaMithuru.It is  Smart Liquid Filling Assistant.It helps people fill a cup safely and independently.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 people find it difficult to fill a cup. Visually impaired and elderly people may spill hot liquids or need help from others.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DiyaMithuru detects the cup, fills it automatically, checks the temperature, and gives an audio indication. It makes filling safer and easier.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It is mainly designed for visually impaired people. It can also help elderly people, caregivers, patients, and families.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user places a cup. The system detects it, fills the liquid, monitors the temperature, and gives an audio notification when finished.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- 20s. Independence, safety, confidence, easier daily living. Close on Technology with Compassion.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We collected user feedback, tested the prototype, and analyzed customer needs. The results show that DiyaMithuru is useful and affordable.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price is LKR 15,000, with a promotional price of LKR 14,250. We also offer installments, a warranty, and free delivery.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- 5s. Roadmap only. Future development items are not current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Thank you for listening. DiyaMithuru is Technology with Compassion, created for a more inclusive tomorrow.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jpe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6.png"/><Relationship Id="rId7" Type="http://schemas.openxmlformats.org/officeDocument/2006/relationships/image" Target="../media/image23.png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16.png"/><Relationship Id="rId7" Type="http://schemas.openxmlformats.org/officeDocument/2006/relationships/image" Target="../media/image28.png"/><Relationship Id="rId6" Type="http://schemas.openxmlformats.org/officeDocument/2006/relationships/image" Target="../media/image19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hyperlink" Target="https://docs.google.com/forms/d/1FdYKrwL7_DrpVTMPInImFrXas6RZh5WQtF1M-O45piI/edit&#13;" TargetMode="Externa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6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6.png"/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" y="41148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66928"/>
            <a:ext cx="374904" cy="4754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55448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DiyaMithuru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3774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Liquid Filling Assistant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with Compassion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33756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“A safer, easier and more independent way to fill your cup.”</a:t>
            </a:r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D/ENG/24/0095/ET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M/ENG/24/001/ET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&amp; Developed in Sri Lanka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47030" y="605790"/>
            <a:ext cx="3239770" cy="346329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5394960" y="37490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DiyaMithuru prototype</a:t>
            </a:r>
            <a:endParaRPr lang="en-US" sz="1100" dirty="0"/>
          </a:p>
        </p:txBody>
      </p:sp>
      <p:pic>
        <p:nvPicPr>
          <p:cNvPr id="2" name="Picture 1" descr="WhatsApp Image 2026-09-30 at 15.35.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285" y="583565"/>
            <a:ext cx="3239770" cy="34848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Task Can Be Difficult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9144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“Filling a cup is not easy for everyone.”</a:t>
            </a:r>
            <a:endParaRPr lang="en-US" sz="1800" dirty="0"/>
          </a:p>
        </p:txBody>
      </p:sp>
      <p:sp>
        <p:nvSpPr>
          <p:cNvPr id="7" name="Shape 2"/>
          <p:cNvSpPr/>
          <p:nvPr/>
        </p:nvSpPr>
        <p:spPr>
          <a:xfrm>
            <a:off x="457200" y="155448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594360" y="1828800"/>
            <a:ext cx="685800" cy="6858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000250"/>
            <a:ext cx="342900" cy="342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71600" y="1554480"/>
            <a:ext cx="1188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 identifying liquid level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2834640" y="155448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2971800" y="1828800"/>
            <a:ext cx="685800" cy="6858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2000250"/>
            <a:ext cx="342900" cy="3429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749040" y="1554480"/>
            <a:ext cx="1188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of spills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457200" y="297180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594360" y="3246120"/>
            <a:ext cx="685800" cy="6858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417570"/>
            <a:ext cx="342900" cy="3429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371600" y="2971800"/>
            <a:ext cx="1188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concerns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2834640" y="2971800"/>
            <a:ext cx="2194560" cy="1234440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2971800" y="3246120"/>
            <a:ext cx="685800" cy="6858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250" y="3417570"/>
            <a:ext cx="342900" cy="3429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749040" y="2971800"/>
            <a:ext cx="1188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Dependence on others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5394960" y="1554480"/>
            <a:ext cx="3291840" cy="2788920"/>
          </a:xfrm>
          <a:prstGeom prst="roundRect">
            <a:avLst>
              <a:gd name="adj" fmla="val 4918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4" name="Text 15"/>
          <p:cNvSpPr txBox="1"/>
          <p:nvPr/>
        </p:nvSpPr>
        <p:spPr>
          <a:xfrm>
            <a:off x="5623560" y="16459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IS AFFECTED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623560" y="21031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5292" y="2244852"/>
            <a:ext cx="283464" cy="28346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355080" y="210312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Visually Impaired Individuals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5623560" y="28346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5292" y="2976372"/>
            <a:ext cx="283464" cy="28346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355080" y="283464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Elderly People</a:t>
            </a:r>
            <a:endParaRPr lang="en-US" sz="1400" dirty="0"/>
          </a:p>
        </p:txBody>
      </p:sp>
      <p:sp>
        <p:nvSpPr>
          <p:cNvPr id="31" name="Shape 20"/>
          <p:cNvSpPr/>
          <p:nvPr/>
        </p:nvSpPr>
        <p:spPr>
          <a:xfrm>
            <a:off x="5623560" y="35661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5292" y="3707892"/>
            <a:ext cx="283464" cy="28346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355080" y="356616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needing daily assistance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DiyaMithuru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8686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Assistance for Everyday Liquid Filling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457200" y="1371600"/>
            <a:ext cx="2286000" cy="777240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566928" y="1481328"/>
            <a:ext cx="548640" cy="54864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618488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137160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Filling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2926080" y="1371600"/>
            <a:ext cx="2286000" cy="777240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3035808" y="1481328"/>
            <a:ext cx="548640" cy="54864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61848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703320" y="137160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Monitoring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57200" y="2286000"/>
            <a:ext cx="2286000" cy="777240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566928" y="2395728"/>
            <a:ext cx="548640" cy="54864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2532888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34440" y="228600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Indication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2926080" y="2286000"/>
            <a:ext cx="2286000" cy="777240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3035808" y="2395728"/>
            <a:ext cx="548640" cy="54864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8" y="2532888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703320" y="228600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Inclusive Design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457200" y="32918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“Designed to make everyday liquid filling safer, simpler and more independent.”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457200" y="388620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457200" y="388620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1463040" y="3886200"/>
            <a:ext cx="2468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1709928" y="388620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1709928" y="388620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2715768" y="3886200"/>
            <a:ext cx="2468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2962656" y="388620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2962656" y="388620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3968496" y="3886200"/>
            <a:ext cx="2468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4215384" y="388620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1E88E5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4215384" y="3886200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INDICATE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755640" y="1082040"/>
            <a:ext cx="2865755" cy="3056255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pic>
        <p:nvPicPr>
          <p:cNvPr id="5" name="Picture 4" descr="WhatsApp Image 2026-09-30 at 15.35.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1515" y="1092835"/>
            <a:ext cx="2842260" cy="30359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Real Daily Needs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685800" y="123444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405890"/>
            <a:ext cx="342900" cy="3429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60020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USER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1600200" y="1463040"/>
            <a:ext cx="6766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Visually Impaired Individuals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2286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 USERS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457200" y="2697480"/>
            <a:ext cx="1929384" cy="1600200"/>
          </a:xfrm>
          <a:prstGeom prst="roundRect">
            <a:avLst>
              <a:gd name="adj" fmla="val 857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1060704" y="2834640"/>
            <a:ext cx="731520" cy="7315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301752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" y="3611880"/>
            <a:ext cx="17465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Elderly People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2551176" y="2697480"/>
            <a:ext cx="1929384" cy="1600200"/>
          </a:xfrm>
          <a:prstGeom prst="roundRect">
            <a:avLst>
              <a:gd name="adj" fmla="val 857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3154680" y="2834640"/>
            <a:ext cx="731520" cy="7315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1752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2642616" y="3611880"/>
            <a:ext cx="17465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Children &amp; Caregivers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4645152" y="2697480"/>
            <a:ext cx="1929384" cy="1600200"/>
          </a:xfrm>
          <a:prstGeom prst="roundRect">
            <a:avLst>
              <a:gd name="adj" fmla="val 857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5248656" y="2834640"/>
            <a:ext cx="731520" cy="7315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536" y="3017520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736592" y="3611880"/>
            <a:ext cx="17465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/ Patient Support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739128" y="2697480"/>
            <a:ext cx="1929384" cy="1600200"/>
          </a:xfrm>
          <a:prstGeom prst="roundRect">
            <a:avLst>
              <a:gd name="adj" fmla="val 857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7342632" y="2834640"/>
            <a:ext cx="731520" cy="7315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512" y="3017520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830568" y="3611880"/>
            <a:ext cx="174650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Home Users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DiyaMithuru Works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005840"/>
            <a:ext cx="2743200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pic>
        <p:nvPicPr>
          <p:cNvPr id="7" name="Image 2" descr="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51560"/>
            <a:ext cx="2103120" cy="214884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474720" y="1005840"/>
            <a:ext cx="2514600" cy="658368"/>
          </a:xfrm>
          <a:prstGeom prst="roundRect">
            <a:avLst>
              <a:gd name="adj" fmla="val 20833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9" name="Shape 3"/>
          <p:cNvSpPr/>
          <p:nvPr/>
        </p:nvSpPr>
        <p:spPr>
          <a:xfrm>
            <a:off x="3566160" y="1088136"/>
            <a:ext cx="493776" cy="493776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1211580"/>
            <a:ext cx="246888" cy="246888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4160520" y="100584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 Controller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6126480" y="1005840"/>
            <a:ext cx="2514600" cy="658368"/>
          </a:xfrm>
          <a:prstGeom prst="roundRect">
            <a:avLst>
              <a:gd name="adj" fmla="val 20833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>
            <a:off x="6217920" y="1088136"/>
            <a:ext cx="493776" cy="493776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64" y="1211580"/>
            <a:ext cx="246888" cy="246888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6812280" y="100584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Ultrasonic Sensor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3474720" y="1783080"/>
            <a:ext cx="2514600" cy="658368"/>
          </a:xfrm>
          <a:prstGeom prst="roundRect">
            <a:avLst>
              <a:gd name="adj" fmla="val 20833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7" name="Shape 9"/>
          <p:cNvSpPr/>
          <p:nvPr/>
        </p:nvSpPr>
        <p:spPr>
          <a:xfrm>
            <a:off x="3566160" y="1865376"/>
            <a:ext cx="493776" cy="493776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604" y="1988820"/>
            <a:ext cx="246888" cy="24688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4160520" y="178308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Sensor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126480" y="1783080"/>
            <a:ext cx="2514600" cy="658368"/>
          </a:xfrm>
          <a:prstGeom prst="roundRect">
            <a:avLst>
              <a:gd name="adj" fmla="val 20833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6217920" y="1865376"/>
            <a:ext cx="493776" cy="493776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364" y="1988820"/>
            <a:ext cx="246888" cy="24688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812280" y="178308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Relay Module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3474720" y="2560320"/>
            <a:ext cx="2514600" cy="658368"/>
          </a:xfrm>
          <a:prstGeom prst="roundRect">
            <a:avLst>
              <a:gd name="adj" fmla="val 20833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3566160" y="2642616"/>
            <a:ext cx="493776" cy="493776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9604" y="2766060"/>
            <a:ext cx="246888" cy="246888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160520" y="256032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DC Water Pump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6126480" y="2560320"/>
            <a:ext cx="2514600" cy="658368"/>
          </a:xfrm>
          <a:prstGeom prst="roundRect">
            <a:avLst>
              <a:gd name="adj" fmla="val 20833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9" name="Shape 18"/>
          <p:cNvSpPr/>
          <p:nvPr/>
        </p:nvSpPr>
        <p:spPr>
          <a:xfrm>
            <a:off x="6217920" y="2642616"/>
            <a:ext cx="493776" cy="493776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1364" y="2766060"/>
            <a:ext cx="246888" cy="246888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6812280" y="256032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V Power Supply</a:t>
            </a:r>
            <a:endParaRPr lang="en-US" sz="1300" dirty="0"/>
          </a:p>
        </p:txBody>
      </p:sp>
      <p:sp>
        <p:nvSpPr>
          <p:cNvPr id="32" name="Shape 20"/>
          <p:cNvSpPr/>
          <p:nvPr/>
        </p:nvSpPr>
        <p:spPr>
          <a:xfrm>
            <a:off x="457200" y="342900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502920" y="3456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22"/>
          <p:cNvSpPr txBox="1"/>
          <p:nvPr/>
        </p:nvSpPr>
        <p:spPr>
          <a:xfrm>
            <a:off x="512064" y="3703320"/>
            <a:ext cx="10789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 the cup</a:t>
            </a:r>
            <a:endParaRPr lang="en-US" sz="1050" dirty="0"/>
          </a:p>
        </p:txBody>
      </p:sp>
      <p:sp>
        <p:nvSpPr>
          <p:cNvPr id="35" name="Text 23"/>
          <p:cNvSpPr txBox="1"/>
          <p:nvPr/>
        </p:nvSpPr>
        <p:spPr>
          <a:xfrm>
            <a:off x="1645920" y="3429000"/>
            <a:ext cx="182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24"/>
          <p:cNvSpPr/>
          <p:nvPr/>
        </p:nvSpPr>
        <p:spPr>
          <a:xfrm>
            <a:off x="1828800" y="342900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1E88E5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1874520" y="3456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26"/>
          <p:cNvSpPr txBox="1"/>
          <p:nvPr/>
        </p:nvSpPr>
        <p:spPr>
          <a:xfrm>
            <a:off x="1883664" y="3703320"/>
            <a:ext cx="10789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Cup is detected</a:t>
            </a:r>
            <a:endParaRPr lang="en-US" sz="1050" dirty="0"/>
          </a:p>
        </p:txBody>
      </p:sp>
      <p:sp>
        <p:nvSpPr>
          <p:cNvPr id="39" name="Text 27"/>
          <p:cNvSpPr txBox="1"/>
          <p:nvPr/>
        </p:nvSpPr>
        <p:spPr>
          <a:xfrm>
            <a:off x="3017520" y="3429000"/>
            <a:ext cx="182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28"/>
          <p:cNvSpPr/>
          <p:nvPr/>
        </p:nvSpPr>
        <p:spPr>
          <a:xfrm>
            <a:off x="3200400" y="342900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3246120" y="3456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30"/>
          <p:cNvSpPr txBox="1"/>
          <p:nvPr/>
        </p:nvSpPr>
        <p:spPr>
          <a:xfrm>
            <a:off x="3255264" y="3703320"/>
            <a:ext cx="10789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 processes the input</a:t>
            </a:r>
            <a:endParaRPr lang="en-US" sz="1050" dirty="0"/>
          </a:p>
        </p:txBody>
      </p:sp>
      <p:sp>
        <p:nvSpPr>
          <p:cNvPr id="43" name="Text 31"/>
          <p:cNvSpPr txBox="1"/>
          <p:nvPr/>
        </p:nvSpPr>
        <p:spPr>
          <a:xfrm>
            <a:off x="4389120" y="3429000"/>
            <a:ext cx="182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4" name="Shape 32"/>
          <p:cNvSpPr/>
          <p:nvPr/>
        </p:nvSpPr>
        <p:spPr>
          <a:xfrm>
            <a:off x="4572000" y="342900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1E88E5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4617720" y="3456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34"/>
          <p:cNvSpPr txBox="1"/>
          <p:nvPr/>
        </p:nvSpPr>
        <p:spPr>
          <a:xfrm>
            <a:off x="4626864" y="3703320"/>
            <a:ext cx="10789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Pump dispenses the liquid</a:t>
            </a:r>
            <a:endParaRPr lang="en-US" sz="1050" dirty="0"/>
          </a:p>
        </p:txBody>
      </p:sp>
      <p:sp>
        <p:nvSpPr>
          <p:cNvPr id="47" name="Text 35"/>
          <p:cNvSpPr txBox="1"/>
          <p:nvPr/>
        </p:nvSpPr>
        <p:spPr>
          <a:xfrm>
            <a:off x="5760720" y="3429000"/>
            <a:ext cx="182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48" name="Shape 36"/>
          <p:cNvSpPr/>
          <p:nvPr/>
        </p:nvSpPr>
        <p:spPr>
          <a:xfrm>
            <a:off x="5943600" y="342900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5989320" y="3456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50" name="Text 38"/>
          <p:cNvSpPr txBox="1"/>
          <p:nvPr/>
        </p:nvSpPr>
        <p:spPr>
          <a:xfrm>
            <a:off x="5998464" y="3703320"/>
            <a:ext cx="10789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is monitored</a:t>
            </a:r>
            <a:endParaRPr lang="en-US" sz="1050" dirty="0"/>
          </a:p>
        </p:txBody>
      </p:sp>
      <p:sp>
        <p:nvSpPr>
          <p:cNvPr id="51" name="Text 39"/>
          <p:cNvSpPr txBox="1"/>
          <p:nvPr/>
        </p:nvSpPr>
        <p:spPr>
          <a:xfrm>
            <a:off x="7132320" y="3429000"/>
            <a:ext cx="182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52" name="Shape 40"/>
          <p:cNvSpPr/>
          <p:nvPr/>
        </p:nvSpPr>
        <p:spPr>
          <a:xfrm>
            <a:off x="7315200" y="3429000"/>
            <a:ext cx="1188720" cy="960120"/>
          </a:xfrm>
          <a:prstGeom prst="roundRect">
            <a:avLst>
              <a:gd name="adj" fmla="val 11429"/>
            </a:avLst>
          </a:prstGeom>
          <a:solidFill>
            <a:srgbClr val="1E88E5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7360920" y="34564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54" name="Text 42"/>
          <p:cNvSpPr txBox="1"/>
          <p:nvPr/>
        </p:nvSpPr>
        <p:spPr>
          <a:xfrm>
            <a:off x="7370064" y="3703320"/>
            <a:ext cx="107899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indication informs the user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Than Just a Product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00584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960120" y="1143000"/>
            <a:ext cx="914400" cy="9144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71600"/>
            <a:ext cx="457200" cy="4572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48640" y="2148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GREATER INDEPENDENCE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2560320" y="100584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3063240" y="1143000"/>
            <a:ext cx="914400" cy="9144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71600"/>
            <a:ext cx="457200" cy="4572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651760" y="2148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SAFETY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4663440" y="100584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5166360" y="1143000"/>
            <a:ext cx="914400" cy="9144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371600"/>
            <a:ext cx="457200" cy="4572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4754880" y="2148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CONFIDENCE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766560" y="1005840"/>
            <a:ext cx="1920240" cy="169164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7269480" y="1143000"/>
            <a:ext cx="914400" cy="9144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371600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858000" y="2148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EASIER DAILY LIVING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457200" y="2880360"/>
            <a:ext cx="8229600" cy="868680"/>
          </a:xfrm>
          <a:prstGeom prst="roundRect">
            <a:avLst>
              <a:gd name="adj" fmla="val 15789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3" name="Text 14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Supporting Inclusive Technology in Sri Lanka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with Compassion.</a:t>
            </a:r>
            <a:endParaRPr lang="en-US" sz="2600" dirty="0"/>
          </a:p>
        </p:txBody>
      </p:sp>
      <p:sp>
        <p:nvSpPr>
          <p:cNvPr id="25" name="Shape 16"/>
          <p:cNvSpPr/>
          <p:nvPr/>
        </p:nvSpPr>
        <p:spPr>
          <a:xfrm>
            <a:off x="457200" y="3858768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73068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05840" y="38587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Visually impaired user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3291840" y="3858768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140" y="3973068"/>
            <a:ext cx="228600" cy="2286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3840480" y="38587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Elderly user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6126480" y="3858768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0780" y="3973068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675120" y="38587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/ caregiver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User Need to Real Product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005840"/>
            <a:ext cx="411480" cy="41148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108710"/>
            <a:ext cx="205740" cy="20574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051560" y="10058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Feedback</a:t>
            </a:r>
            <a:endParaRPr lang="en-US" sz="1400" dirty="0"/>
          </a:p>
        </p:txBody>
      </p:sp>
      <p:sp>
        <p:nvSpPr>
          <p:cNvPr id="9" name="Shape 3"/>
          <p:cNvSpPr/>
          <p:nvPr/>
        </p:nvSpPr>
        <p:spPr>
          <a:xfrm>
            <a:off x="457200" y="1536192"/>
            <a:ext cx="411480" cy="41148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1639062"/>
            <a:ext cx="205740" cy="20574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051560" y="153619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Form Survey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457200" y="2066544"/>
            <a:ext cx="411480" cy="41148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2169414"/>
            <a:ext cx="205740" cy="20574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051560" y="2066544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Testing</a:t>
            </a:r>
            <a:endParaRPr lang="en-US" sz="1400" dirty="0"/>
          </a:p>
        </p:txBody>
      </p:sp>
      <p:sp>
        <p:nvSpPr>
          <p:cNvPr id="15" name="Shape 7"/>
          <p:cNvSpPr/>
          <p:nvPr/>
        </p:nvSpPr>
        <p:spPr>
          <a:xfrm>
            <a:off x="457200" y="2596896"/>
            <a:ext cx="411480" cy="41148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" y="2699766"/>
            <a:ext cx="205740" cy="2057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51560" y="259689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Requirement Analysis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457200" y="3127248"/>
            <a:ext cx="411480" cy="41148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" y="3230118"/>
            <a:ext cx="205740" cy="20574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051560" y="312724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Validation</a:t>
            </a:r>
            <a:endParaRPr lang="en-US" sz="1400" dirty="0"/>
          </a:p>
        </p:txBody>
      </p:sp>
      <p:sp>
        <p:nvSpPr>
          <p:cNvPr id="21" name="Shape 11"/>
          <p:cNvSpPr/>
          <p:nvPr/>
        </p:nvSpPr>
        <p:spPr>
          <a:xfrm>
            <a:off x="4023360" y="10058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9050">
            <a:solidFill>
              <a:srgbClr val="1E88E5"/>
            </a:solidFill>
            <a:prstDash val="dash"/>
          </a:ln>
        </p:spPr>
      </p:sp>
      <p:sp>
        <p:nvSpPr>
          <p:cNvPr id="22" name="Text 12"/>
          <p:cNvSpPr txBox="1"/>
          <p:nvPr/>
        </p:nvSpPr>
        <p:spPr>
          <a:xfrm>
            <a:off x="4114800" y="100584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6400800" y="10058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9050">
            <a:solidFill>
              <a:srgbClr val="1E88E5"/>
            </a:solidFill>
            <a:prstDash val="dash"/>
          </a:ln>
        </p:spPr>
      </p:sp>
      <p:sp>
        <p:nvSpPr>
          <p:cNvPr id="24" name="Text 14"/>
          <p:cNvSpPr txBox="1"/>
          <p:nvPr/>
        </p:nvSpPr>
        <p:spPr>
          <a:xfrm>
            <a:off x="6492240" y="100584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REAL CUSTOMER FEEDBACK]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4023360" y="3017520"/>
            <a:ext cx="4663440" cy="548640"/>
          </a:xfrm>
          <a:prstGeom prst="roundRect">
            <a:avLst>
              <a:gd name="adj" fmla="val 25000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4023360" y="301752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PRODUCT-MARKET FIT</a:t>
            </a:r>
            <a:endParaRPr lang="en-US" sz="1800" dirty="0"/>
          </a:p>
        </p:txBody>
      </p:sp>
      <p:sp>
        <p:nvSpPr>
          <p:cNvPr id="27" name="Shape 17"/>
          <p:cNvSpPr/>
          <p:nvPr/>
        </p:nvSpPr>
        <p:spPr>
          <a:xfrm>
            <a:off x="457200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457200" y="37947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LOCALLY DEVELOPED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2130552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2130552" y="37947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AFFORDABLE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3803904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3803904" y="37947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USER-CENTERED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5477256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5477256" y="37947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INCLUSIVE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7150608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7150608" y="379476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TO USE</a:t>
            </a:r>
            <a:endParaRPr lang="en-US" sz="1050" dirty="0"/>
          </a:p>
        </p:txBody>
      </p:sp>
      <p:sp>
        <p:nvSpPr>
          <p:cNvPr id="5" name="Text Box 4"/>
          <p:cNvSpPr txBox="1"/>
          <p:nvPr/>
        </p:nvSpPr>
        <p:spPr>
          <a:xfrm>
            <a:off x="765810" y="4291330"/>
            <a:ext cx="8686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/>
              <a:t>Link - </a:t>
            </a:r>
            <a:r>
              <a:rPr lang="en-US" altLang="en-US" sz="1400" b="1" u="sng">
                <a:hlinkClick r:id="rId8" action="ppaction://hlinkfile"/>
              </a:rPr>
              <a:t>https://docs.google.com/forms/d/1FdYKrwL7_DrpVTMPInImFrXas6RZh5WQtF1M</a:t>
            </a:r>
            <a:r>
              <a:rPr lang="en-US" altLang="en-US" sz="1400" b="1" u="sng">
                <a:hlinkClick r:id="rId8" action="ppaction://hlinkfile"/>
              </a:rPr>
              <a:t>-O45piI/edit</a:t>
            </a:r>
            <a:endParaRPr lang="en-US" altLang="en-US" sz="1400" b="1" u="sng">
              <a:hlinkClick r:id="rId8" action="ppaction://hlinkfile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9"/>
          <a:stretch>
            <a:fillRect/>
          </a:stretch>
        </p:blipFill>
        <p:spPr>
          <a:xfrm>
            <a:off x="4023360" y="1007745"/>
            <a:ext cx="2286000" cy="1781175"/>
          </a:xfrm>
          <a:prstGeom prst="rect">
            <a:avLst/>
          </a:prstGeom>
        </p:spPr>
      </p:pic>
      <p:pic>
        <p:nvPicPr>
          <p:cNvPr id="38" name="Picture 37"/>
          <p:cNvPicPr/>
          <p:nvPr/>
        </p:nvPicPr>
        <p:blipFill>
          <a:blip r:embed="rId10"/>
          <a:stretch>
            <a:fillRect/>
          </a:stretch>
        </p:blipFill>
        <p:spPr>
          <a:xfrm>
            <a:off x="6537960" y="998855"/>
            <a:ext cx="2167255" cy="178943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Affordable Assistive Technology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005840"/>
            <a:ext cx="4206240" cy="3291840"/>
          </a:xfrm>
          <a:prstGeom prst="roundRect">
            <a:avLst>
              <a:gd name="adj" fmla="val 4167"/>
            </a:avLst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7" name="Text 2"/>
          <p:cNvSpPr txBox="1"/>
          <p:nvPr/>
        </p:nvSpPr>
        <p:spPr>
          <a:xfrm>
            <a:off x="731520" y="1143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PRICE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14173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strike="sngStrike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LKR 15,000</a:t>
            </a:r>
            <a:endParaRPr lang="en-US" sz="2400" dirty="0"/>
          </a:p>
        </p:txBody>
      </p:sp>
      <p:sp>
        <p:nvSpPr>
          <p:cNvPr id="9" name="Shape 4"/>
          <p:cNvSpPr/>
          <p:nvPr/>
        </p:nvSpPr>
        <p:spPr>
          <a:xfrm>
            <a:off x="731520" y="201168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31520" y="2011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24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PROMOTIONAL OFFER: 5% DISCOUNT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26517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PROMOTIONAL PRICE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29260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LKR 14,250</a:t>
            </a:r>
            <a:endParaRPr lang="en-US" sz="5000" dirty="0"/>
          </a:p>
        </p:txBody>
      </p:sp>
      <p:sp>
        <p:nvSpPr>
          <p:cNvPr id="13" name="Shape 8"/>
          <p:cNvSpPr/>
          <p:nvPr/>
        </p:nvSpPr>
        <p:spPr>
          <a:xfrm>
            <a:off x="4937760" y="1005840"/>
            <a:ext cx="2651760" cy="1188720"/>
          </a:xfrm>
          <a:prstGeom prst="roundRect">
            <a:avLst>
              <a:gd name="adj" fmla="val 11538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120640" y="10698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INSTALLMENT PLAN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120640" y="13441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LKR 5,000 / month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17099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3 months · 0% Interest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26680" y="1005840"/>
            <a:ext cx="960120" cy="11887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pic>
        <p:nvPicPr>
          <p:cNvPr id="18" name="Image 2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1078992"/>
            <a:ext cx="813816" cy="8138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26680" y="1920240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937760" y="2377440"/>
            <a:ext cx="1783080" cy="914400"/>
          </a:xfrm>
          <a:prstGeom prst="roundRect">
            <a:avLst>
              <a:gd name="adj" fmla="val 15000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29200" y="2606040"/>
            <a:ext cx="457200" cy="4572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72034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77840" y="2377440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1-Year Hardware Warranty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903720" y="2377440"/>
            <a:ext cx="1783080" cy="914400"/>
          </a:xfrm>
          <a:prstGeom prst="roundRect">
            <a:avLst>
              <a:gd name="adj" fmla="val 15000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995160" y="2606040"/>
            <a:ext cx="457200" cy="4572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72034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43800" y="2377440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Islandwide Delivery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937760" y="3429000"/>
            <a:ext cx="1783080" cy="914400"/>
          </a:xfrm>
          <a:prstGeom prst="roundRect">
            <a:avLst>
              <a:gd name="adj" fmla="val 15000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029200" y="3657600"/>
            <a:ext cx="457200" cy="4572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77190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577840" y="3429000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Onboarding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903720" y="3429000"/>
            <a:ext cx="1783080" cy="914400"/>
          </a:xfrm>
          <a:prstGeom prst="roundRect">
            <a:avLst>
              <a:gd name="adj" fmla="val 15000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995160" y="3657600"/>
            <a:ext cx="457200" cy="457200"/>
          </a:xfrm>
          <a:prstGeom prst="ellipse">
            <a:avLst/>
          </a:prstGeom>
          <a:solidFill>
            <a:srgbClr val="0A3D8F"/>
          </a:solidFill>
          <a:ln w="12700">
            <a:solidFill>
              <a:srgbClr val="0A3D8F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460" y="377190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543800" y="3429000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Wall Power Adapter &amp; Accessories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l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57700"/>
            <a:ext cx="91440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FUTURE DEVELOPMENT</a:t>
            </a:r>
            <a:endParaRPr lang="en-US" sz="3400" dirty="0"/>
          </a:p>
        </p:txBody>
      </p:sp>
      <p:pic>
        <p:nvPicPr>
          <p:cNvPr id="4" name="Image 1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384048" cy="48920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286000" y="1188720"/>
            <a:ext cx="304495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419295" y="1188720"/>
            <a:ext cx="304495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552590" y="1188720"/>
            <a:ext cx="304495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335280" y="2183130"/>
            <a:ext cx="2651760" cy="777240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9050">
            <a:solidFill>
              <a:srgbClr val="1E88E5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381000" y="211836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Connectivity</a:t>
            </a:r>
            <a:endParaRPr lang="en-US" sz="1500" b="1" dirty="0">
              <a:solidFill>
                <a:srgbClr val="1230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500" b="1" dirty="0"/>
              <a:t>Using AI</a:t>
            </a:r>
            <a:endParaRPr lang="en-US" sz="1500" b="1" dirty="0"/>
          </a:p>
        </p:txBody>
      </p:sp>
      <p:sp>
        <p:nvSpPr>
          <p:cNvPr id="24" name="Shape 19"/>
          <p:cNvSpPr/>
          <p:nvPr/>
        </p:nvSpPr>
        <p:spPr>
          <a:xfrm>
            <a:off x="3215640" y="2183130"/>
            <a:ext cx="2651760" cy="777240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9050">
            <a:solidFill>
              <a:srgbClr val="1E88E5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3192780" y="218313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Audio Guidance</a:t>
            </a:r>
            <a:endParaRPr lang="en-US" sz="1500" b="1" dirty="0">
              <a:solidFill>
                <a:srgbClr val="1230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500" b="1" dirty="0"/>
              <a:t>in Tri Basha</a:t>
            </a:r>
            <a:endParaRPr lang="en-US" sz="1500" b="1" dirty="0"/>
          </a:p>
        </p:txBody>
      </p:sp>
      <p:sp>
        <p:nvSpPr>
          <p:cNvPr id="26" name="Shape 21"/>
          <p:cNvSpPr/>
          <p:nvPr/>
        </p:nvSpPr>
        <p:spPr>
          <a:xfrm>
            <a:off x="6050280" y="2221865"/>
            <a:ext cx="2651760" cy="777240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9050">
            <a:solidFill>
              <a:srgbClr val="1E88E5"/>
            </a:solidFill>
            <a:prstDash val="dash"/>
          </a:ln>
        </p:spPr>
      </p:sp>
      <p:sp>
        <p:nvSpPr>
          <p:cNvPr id="27" name="Text 22"/>
          <p:cNvSpPr txBox="1"/>
          <p:nvPr/>
        </p:nvSpPr>
        <p:spPr>
          <a:xfrm>
            <a:off x="6050280" y="2118360"/>
            <a:ext cx="2651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0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Integration using Camera 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968500" y="1563370"/>
            <a:ext cx="40233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80" y="1689735"/>
            <a:ext cx="3657600" cy="199339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044700" y="375793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with Compassion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2336800" y="4224655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“For a More Inclusive Tomorrow”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603500" y="4636135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&amp; Developed in Sri Lanka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975610" y="718185"/>
            <a:ext cx="2176780" cy="62611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  <p:txBody>
          <a:bodyPr/>
          <a:p>
            <a:r>
              <a:rPr lang="en-US" sz="3200" b="1"/>
              <a:t>Thank You !</a:t>
            </a:r>
            <a:endParaRPr lang="en-US" sz="3200" b="1"/>
          </a:p>
        </p:txBody>
      </p:sp>
      <p:sp>
        <p:nvSpPr>
          <p:cNvPr id="10" name="Shape 5"/>
          <p:cNvSpPr/>
          <p:nvPr/>
        </p:nvSpPr>
        <p:spPr>
          <a:xfrm>
            <a:off x="7322820" y="368300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A3D8F">
                <a:alpha val="18000"/>
              </a:srgbClr>
            </a:outerShdw>
          </a:effectLst>
        </p:spPr>
      </p:sp>
      <p:sp>
        <p:nvSpPr>
          <p:cNvPr id="12" name="Text 6"/>
          <p:cNvSpPr txBox="1"/>
          <p:nvPr/>
        </p:nvSpPr>
        <p:spPr>
          <a:xfrm>
            <a:off x="7322820" y="47777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E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to know more</a:t>
            </a:r>
            <a:endParaRPr lang="en-US" sz="1050" dirty="0"/>
          </a:p>
        </p:txBody>
      </p:sp>
      <p:pic>
        <p:nvPicPr>
          <p:cNvPr id="2" name="Image 2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260" y="3748405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2154</Words>
  <Application>WPS Presentation</Application>
  <PresentationFormat>On-screen Show (16:9)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DiyaMithuru</dc:title>
  <dc:creator>PptxGenJS</dc:creator>
  <dc:subject>PptxGenJS Presentation</dc:subject>
  <cp:lastModifiedBy>Pasindu Wanniarachchi</cp:lastModifiedBy>
  <cp:revision>5</cp:revision>
  <dcterms:created xsi:type="dcterms:W3CDTF">2026-09-30T00:27:00Z</dcterms:created>
  <dcterms:modified xsi:type="dcterms:W3CDTF">2026-09-30T12:12:19Z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81DD5694D205412EAF784942A1D5AFDD_12</vt:lpwstr>
  </property>
</Properties>
</file>